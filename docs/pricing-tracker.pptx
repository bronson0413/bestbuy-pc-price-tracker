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6202E"/>
                </a:solidFill>
                <a:latin typeface="Calibri"/>
              </a:defRPr>
            </a:pPr>
            <a:r>
              <a:rPr sz="1300" b="0" i="0" u="none" strike="noStrike">
                <a:solidFill>
                  <a:srgbClr val="16202E"/>
                </a:solidFill>
                <a:latin typeface="Calibri"/>
              </a:rPr>
              <a:t>Field-level extraction accuracy (%)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Field accuracy</c:v>
                </c:pt>
              </c:strCache>
            </c:strRef>
          </c:tx>
          <c:spPr>
            <a:solidFill>
              <a:srgbClr val="1B3A6B"/>
            </a:solidFill>
            <a:effectLst/>
          </c:spPr>
          <c:invertIfNegative val="0"/>
          <c:dLbls>
            <c:numFmt formatCode="0.0&quot;%&quot;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6202E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B3A6B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5B7FB9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C2410C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Rules only
(title)</c:v>
                  </c:pt>
                  <c:pt idx="1">
                    <c:v>Model only
(title + description)</c:v>
                  </c:pt>
                  <c:pt idx="2">
                    <c:v>Rules + model
reconciled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74.1</c:v>
                </c:pt>
                <c:pt idx="1">
                  <c:v>96.3</c:v>
                </c:pt>
                <c:pt idx="2">
                  <c:v>98.1</c:v>
                </c:pt>
              </c:numCache>
            </c:numRef>
          </c:val>
        </c:ser>
        <c:dLbls>
          <c:numFmt formatCode="0.0&quot;%&quot;" sourceLinked="0"/>
          <c:txPr>
            <a:bodyPr/>
            <a:lstStyle/>
            <a:p>
              <a:pPr>
                <a:defRPr b="0" i="0" strike="noStrike" sz="1100" u="none">
                  <a:solidFill>
                    <a:srgbClr val="16202E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rgbClr val="475569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8"/>
          <c:min val="0"/>
        </c:scaling>
        <c:delete val="0"/>
        <c:axPos val="l"/>
        <c:majorGridlines>
          <c:spPr>
            <a:ln w="1270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headline is the last number: nine graded extraction cases, zero hallucinations. Everything else in the deck explains how that was made structurally impossible rather than merely unlikely.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N150 finding is the strongest argument for the whole design. It was found by hand, not by a tool, and it is why the parser reads titles and descriptions rather than structured attributes.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 of four sources are blocked. That is the finding, not a failure — the architecture was built to degrade and the degradation is recorded.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hybrid beating both components is the point. It is an architectural gain, not an effect of adding a model. And the zero hallucination rate is structural: schema re-normalisation makes an invented value unable to enter the specification.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Closing on limitations rather than achievements is deliberate. The assessment asks for clear communication of assumptions and limitations, and a system whose author can state precisely what it cannot do is the more credible one.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20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1874520"/>
            <a:ext cx="10515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AI-Powered PC Pricing Tracker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2761488"/>
            <a:ext cx="9692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C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Tracking equivalent Windows PCs on Best Buy — and knowing when not to compare them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3886200"/>
            <a:ext cx="2468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C2410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40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457200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products tracked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484632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8A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across 4 brands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3520440" y="3886200"/>
            <a:ext cx="2468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C2410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4000" dirty="0"/>
          </a:p>
        </p:txBody>
      </p:sp>
      <p:sp>
        <p:nvSpPr>
          <p:cNvPr id="8" name="Text 6"/>
          <p:cNvSpPr txBox="1"/>
          <p:nvPr/>
        </p:nvSpPr>
        <p:spPr>
          <a:xfrm>
            <a:off x="3520440" y="457200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collection sources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3520440" y="484632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8A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of them blocked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6217920" y="3886200"/>
            <a:ext cx="2468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C2410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98.1%</a:t>
            </a:r>
            <a:endParaRPr lang="en-US" sz="4000" dirty="0"/>
          </a:p>
        </p:txBody>
      </p:sp>
      <p:sp>
        <p:nvSpPr>
          <p:cNvPr id="11" name="Text 9"/>
          <p:cNvSpPr txBox="1"/>
          <p:nvPr/>
        </p:nvSpPr>
        <p:spPr>
          <a:xfrm>
            <a:off x="6217920" y="457200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extraction accuracy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6217920" y="484632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8A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rules + model combined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8915400" y="3886200"/>
            <a:ext cx="2468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C2410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0%</a:t>
            </a:r>
            <a:endParaRPr lang="en-US" sz="4000" dirty="0"/>
          </a:p>
        </p:txBody>
      </p:sp>
      <p:sp>
        <p:nvSpPr>
          <p:cNvPr id="14" name="Text 12"/>
          <p:cNvSpPr txBox="1"/>
          <p:nvPr/>
        </p:nvSpPr>
        <p:spPr>
          <a:xfrm>
            <a:off x="8915400" y="457200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hallucination rate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8915400" y="484632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8A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across 9 graded cases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822960" y="598932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Bo-Sheng Chen   ·   WD00102927   ·   github.com/bronson0413/bestbuy-pc-price-tracker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620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Comparability is a rule, not a judgement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69264"/>
            <a:ext cx="11064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normalised attributes form a key. Two listings are comparable only if their keys match exactly.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481328"/>
            <a:ext cx="6583680" cy="914400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664208"/>
            <a:ext cx="6172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2410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intel-ultra5-226v</a:t>
            </a:r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|  16gb  |  512gb  |  windows-11-pro  |  laptop  |  clamshell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1975104"/>
            <a:ext cx="6172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processor · memory · storage · OS · device type · form factor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48640" y="2724912"/>
            <a:ext cx="310896" cy="310896"/>
          </a:xfrm>
          <a:prstGeom prst="ellipse">
            <a:avLst/>
          </a:prstGeom>
          <a:solidFill>
            <a:srgbClr val="1B3A6B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48640" y="2752344"/>
            <a:ext cx="3108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1005840" y="2670048"/>
            <a:ext cx="6126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 — Identical processor SKU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1005840" y="2944368"/>
            <a:ext cx="6126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these the same machine?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1005840" y="3191256"/>
            <a:ext cx="6126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groups · largest has 2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48640" y="3639312"/>
            <a:ext cx="310896" cy="310896"/>
          </a:xfrm>
          <a:prstGeom prst="ellipse">
            <a:avLst/>
          </a:prstGeom>
          <a:solidFill>
            <a:srgbClr val="C2410C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548640" y="3666744"/>
            <a:ext cx="3108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1005840" y="3584448"/>
            <a:ext cx="6126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— Same processor class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1005840" y="3858768"/>
            <a:ext cx="6126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Would a buyer cross-shop these?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1005840" y="4105656"/>
            <a:ext cx="6126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groups · largest has 4, all different brands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548640" y="4590288"/>
            <a:ext cx="6583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the processor SKU is relaxed. Memory, storage, OS, device type and form factor stay exact — each changes the purchase decision.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7543800" y="1481328"/>
            <a:ext cx="4069080" cy="3639312"/>
          </a:xfrm>
          <a:prstGeom prst="roundRect">
            <a:avLst>
              <a:gd name="adj" fmla="val 1508"/>
            </a:avLst>
          </a:prstGeom>
          <a:solidFill>
            <a:srgbClr val="FEF3E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818120" y="1719072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retailer's own data says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7818120" y="2048256"/>
            <a:ext cx="3566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listings expose a structured </a:t>
            </a:r>
            <a:pPr indent="0" marL="0">
              <a:buNone/>
            </a:pPr>
            <a:r>
              <a:rPr lang="en-US" sz="1200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Processor Model</a:t>
            </a:r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field. Both read </a:t>
            </a:r>
            <a:pPr indent="0" marL="0">
              <a:buNone/>
            </a:pPr>
            <a:r>
              <a:rPr lang="en-US" sz="12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"Intel Processor N150"</a:t>
            </a:r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an entry-level chip.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7818120" y="2944368"/>
            <a:ext cx="3566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machines are a Core Ultra 5 225U and a 236V. The correct processor appears only in the free-text description.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7818120" y="3730752"/>
            <a:ext cx="3566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parser that trusted the structured field would have mis-classified both with complete confidence.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7818120" y="4498848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 by opening the product pages.</a:t>
            </a:r>
            <a:endParaRPr lang="en-US" sz="1050" dirty="0"/>
          </a:p>
        </p:txBody>
      </p:sp>
      <p:sp>
        <p:nvSpPr>
          <p:cNvPr id="24" name="Text 22"/>
          <p:cNvSpPr txBox="1"/>
          <p:nvPr/>
        </p:nvSpPr>
        <p:spPr>
          <a:xfrm>
            <a:off x="548640" y="534924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Unparseable specifications are excluded, never guessed. Missing one comparable machine costs a line on a chart; merging two different machines produces a chart that looks right and a conclusion that is wrong.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620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Four sources, tried in order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69264"/>
            <a:ext cx="11064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step is further from the retailer than the last. The collector descends only when it has to, and records which source produced every price.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572768"/>
            <a:ext cx="7680960" cy="804672"/>
          </a:xfrm>
          <a:prstGeom prst="roundRect">
            <a:avLst>
              <a:gd name="adj" fmla="val 68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49808" y="1792224"/>
            <a:ext cx="365760" cy="365760"/>
          </a:xfrm>
          <a:prstGeom prst="ellipse">
            <a:avLst/>
          </a:prstGeom>
          <a:solidFill>
            <a:srgbClr val="C2410C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49808" y="1828800"/>
            <a:ext cx="365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1298448" y="169164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Buy Products API</a:t>
            </a:r>
            <a:endParaRPr lang="en-US" sz="1350" dirty="0"/>
          </a:p>
        </p:txBody>
      </p:sp>
      <p:sp>
        <p:nvSpPr>
          <p:cNvPr id="8" name="Text 6"/>
          <p:cNvSpPr txBox="1"/>
          <p:nvPr/>
        </p:nvSpPr>
        <p:spPr>
          <a:xfrm>
            <a:off x="1298448" y="198424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retailer's own interface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4663440" y="1837944"/>
            <a:ext cx="2880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Registration requires a non-free email domain</a:t>
            </a:r>
            <a:endParaRPr lang="en-US" sz="1150" dirty="0"/>
          </a:p>
        </p:txBody>
      </p:sp>
      <p:sp>
        <p:nvSpPr>
          <p:cNvPr id="10" name="Text 8"/>
          <p:cNvSpPr txBox="1"/>
          <p:nvPr/>
        </p:nvSpPr>
        <p:spPr>
          <a:xfrm>
            <a:off x="7571232" y="1837944"/>
            <a:ext cx="566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blocked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48640" y="2514600"/>
            <a:ext cx="7680960" cy="804672"/>
          </a:xfrm>
          <a:prstGeom prst="roundRect">
            <a:avLst>
              <a:gd name="adj" fmla="val 68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49808" y="2734056"/>
            <a:ext cx="365760" cy="365760"/>
          </a:xfrm>
          <a:prstGeom prst="ellipse">
            <a:avLst/>
          </a:prstGeom>
          <a:solidFill>
            <a:srgbClr val="0F766E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749808" y="2770632"/>
            <a:ext cx="365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1298448" y="263347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RapidAPI aggregator</a:t>
            </a:r>
            <a:endParaRPr lang="en-US" sz="1350" dirty="0"/>
          </a:p>
        </p:txBody>
      </p:sp>
      <p:sp>
        <p:nvSpPr>
          <p:cNvPr id="15" name="Text 13"/>
          <p:cNvSpPr txBox="1"/>
          <p:nvPr/>
        </p:nvSpPr>
        <p:spPr>
          <a:xfrm>
            <a:off x="1298448" y="292608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Reachable from any IP, including CI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4663440" y="2779776"/>
            <a:ext cx="2880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use — SKU echo verified on every response</a:t>
            </a:r>
            <a:endParaRPr lang="en-US" sz="1150" dirty="0"/>
          </a:p>
        </p:txBody>
      </p:sp>
      <p:sp>
        <p:nvSpPr>
          <p:cNvPr id="17" name="Text 15"/>
          <p:cNvSpPr txBox="1"/>
          <p:nvPr/>
        </p:nvSpPr>
        <p:spPr>
          <a:xfrm>
            <a:off x="7571232" y="2779776"/>
            <a:ext cx="566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548640" y="3456432"/>
            <a:ext cx="7680960" cy="804672"/>
          </a:xfrm>
          <a:prstGeom prst="roundRect">
            <a:avLst>
              <a:gd name="adj" fmla="val 68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49808" y="3675888"/>
            <a:ext cx="365760" cy="365760"/>
          </a:xfrm>
          <a:prstGeom prst="ellipse">
            <a:avLst/>
          </a:prstGeom>
          <a:solidFill>
            <a:srgbClr val="C2410C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749808" y="3712464"/>
            <a:ext cx="365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1298448" y="3575304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extraction (Playwright)</a:t>
            </a:r>
            <a:endParaRPr lang="en-US" sz="1350" dirty="0"/>
          </a:p>
        </p:txBody>
      </p:sp>
      <p:sp>
        <p:nvSpPr>
          <p:cNvPr id="22" name="Text 20"/>
          <p:cNvSpPr txBox="1"/>
          <p:nvPr/>
        </p:nvSpPr>
        <p:spPr>
          <a:xfrm>
            <a:off x="1298448" y="386791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JSON-LD, embedded JSON, rendered DOM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4663440" y="3721608"/>
            <a:ext cx="2880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HTTP/2 terminated, then silent timeouts</a:t>
            </a:r>
            <a:endParaRPr lang="en-US" sz="1150" dirty="0"/>
          </a:p>
        </p:txBody>
      </p:sp>
      <p:sp>
        <p:nvSpPr>
          <p:cNvPr id="24" name="Text 22"/>
          <p:cNvSpPr txBox="1"/>
          <p:nvPr/>
        </p:nvSpPr>
        <p:spPr>
          <a:xfrm>
            <a:off x="7571232" y="3721608"/>
            <a:ext cx="566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blocked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548640" y="4398264"/>
            <a:ext cx="7680960" cy="804672"/>
          </a:xfrm>
          <a:prstGeom prst="roundRect">
            <a:avLst>
              <a:gd name="adj" fmla="val 68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49808" y="4617720"/>
            <a:ext cx="365760" cy="365760"/>
          </a:xfrm>
          <a:prstGeom prst="ellipse">
            <a:avLst/>
          </a:prstGeom>
          <a:solidFill>
            <a:srgbClr val="1B3A6B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749808" y="4654296"/>
            <a:ext cx="365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500" dirty="0"/>
          </a:p>
        </p:txBody>
      </p:sp>
      <p:sp>
        <p:nvSpPr>
          <p:cNvPr id="28" name="Text 26"/>
          <p:cNvSpPr txBox="1"/>
          <p:nvPr/>
        </p:nvSpPr>
        <p:spPr>
          <a:xfrm>
            <a:off x="1298448" y="4517136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entry with screenshots</a:t>
            </a:r>
            <a:endParaRPr lang="en-US" sz="1350" dirty="0"/>
          </a:p>
        </p:txBody>
      </p:sp>
      <p:sp>
        <p:nvSpPr>
          <p:cNvPr id="29" name="Text 27"/>
          <p:cNvSpPr txBox="1"/>
          <p:nvPr/>
        </p:nvSpPr>
        <p:spPr>
          <a:xfrm>
            <a:off x="1298448" y="4809744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person reads the live page</a:t>
            </a:r>
            <a:endParaRPr lang="en-US" sz="1100" dirty="0"/>
          </a:p>
        </p:txBody>
      </p:sp>
      <p:sp>
        <p:nvSpPr>
          <p:cNvPr id="30" name="Text 28"/>
          <p:cNvSpPr txBox="1"/>
          <p:nvPr/>
        </p:nvSpPr>
        <p:spPr>
          <a:xfrm>
            <a:off x="4663440" y="4663440"/>
            <a:ext cx="2880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for the first snapshot</a:t>
            </a:r>
            <a:endParaRPr lang="en-US" sz="1150" dirty="0"/>
          </a:p>
        </p:txBody>
      </p:sp>
      <p:sp>
        <p:nvSpPr>
          <p:cNvPr id="31" name="Text 29"/>
          <p:cNvSpPr txBox="1"/>
          <p:nvPr/>
        </p:nvSpPr>
        <p:spPr>
          <a:xfrm>
            <a:off x="7571232" y="4663440"/>
            <a:ext cx="566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fallback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8641080" y="1572768"/>
            <a:ext cx="2971800" cy="3831336"/>
          </a:xfrm>
          <a:prstGeom prst="roundRect">
            <a:avLst>
              <a:gd name="adj" fmla="val 1846"/>
            </a:avLst>
          </a:prstGeom>
          <a:solidFill>
            <a:srgbClr val="16202E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8887968" y="1801368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Collection health</a:t>
            </a:r>
            <a:endParaRPr lang="en-US" sz="1300" dirty="0"/>
          </a:p>
        </p:txBody>
      </p:sp>
      <p:sp>
        <p:nvSpPr>
          <p:cNvPr id="34" name="Text 32"/>
          <p:cNvSpPr txBox="1"/>
          <p:nvPr/>
        </p:nvSpPr>
        <p:spPr>
          <a:xfrm>
            <a:off x="8887968" y="2103120"/>
            <a:ext cx="2514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C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tracker reports its own reliability, grouped by cause rather than by product:</a:t>
            </a:r>
            <a:endParaRPr lang="en-US" sz="1100" dirty="0"/>
          </a:p>
        </p:txBody>
      </p:sp>
      <p:sp>
        <p:nvSpPr>
          <p:cNvPr id="35" name="Text 33"/>
          <p:cNvSpPr txBox="1"/>
          <p:nvPr/>
        </p:nvSpPr>
        <p:spPr>
          <a:xfrm>
            <a:off x="8887968" y="2761488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2410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6×</a:t>
            </a:r>
            <a:endParaRPr lang="en-US" sz="1500" dirty="0"/>
          </a:p>
        </p:txBody>
      </p:sp>
      <p:sp>
        <p:nvSpPr>
          <p:cNvPr id="36" name="Text 34"/>
          <p:cNvSpPr txBox="1"/>
          <p:nvPr/>
        </p:nvSpPr>
        <p:spPr>
          <a:xfrm>
            <a:off x="9418320" y="278892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manual entry recorded</a:t>
            </a:r>
            <a:endParaRPr lang="en-US" sz="1050" dirty="0"/>
          </a:p>
        </p:txBody>
      </p:sp>
      <p:sp>
        <p:nvSpPr>
          <p:cNvPr id="37" name="Text 35"/>
          <p:cNvSpPr txBox="1"/>
          <p:nvPr/>
        </p:nvSpPr>
        <p:spPr>
          <a:xfrm>
            <a:off x="8887968" y="3328416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2410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3×</a:t>
            </a:r>
            <a:endParaRPr lang="en-US" sz="1500" dirty="0"/>
          </a:p>
        </p:txBody>
      </p:sp>
      <p:sp>
        <p:nvSpPr>
          <p:cNvPr id="38" name="Text 36"/>
          <p:cNvSpPr txBox="1"/>
          <p:nvPr/>
        </p:nvSpPr>
        <p:spPr>
          <a:xfrm>
            <a:off x="9418320" y="3355848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HTTP/2 connection terminated</a:t>
            </a:r>
            <a:endParaRPr lang="en-US" sz="1050" dirty="0"/>
          </a:p>
        </p:txBody>
      </p:sp>
      <p:sp>
        <p:nvSpPr>
          <p:cNvPr id="39" name="Text 37"/>
          <p:cNvSpPr txBox="1"/>
          <p:nvPr/>
        </p:nvSpPr>
        <p:spPr>
          <a:xfrm>
            <a:off x="8887968" y="3895344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2410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3×</a:t>
            </a:r>
            <a:endParaRPr lang="en-US" sz="1500" dirty="0"/>
          </a:p>
        </p:txBody>
      </p:sp>
      <p:sp>
        <p:nvSpPr>
          <p:cNvPr id="40" name="Text 38"/>
          <p:cNvSpPr txBox="1"/>
          <p:nvPr/>
        </p:nvSpPr>
        <p:spPr>
          <a:xfrm>
            <a:off x="9418320" y="3922776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load timed out</a:t>
            </a:r>
            <a:endParaRPr lang="en-US" sz="1050" dirty="0"/>
          </a:p>
        </p:txBody>
      </p:sp>
      <p:sp>
        <p:nvSpPr>
          <p:cNvPr id="41" name="Text 39"/>
          <p:cNvSpPr txBox="1"/>
          <p:nvPr/>
        </p:nvSpPr>
        <p:spPr>
          <a:xfrm>
            <a:off x="8887968" y="4553712"/>
            <a:ext cx="2514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7A8A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Retained deliberately. This is the evidence for the four-tier design, not noise to be cleared.</a:t>
            </a:r>
            <a:endParaRPr lang="en-US" sz="1050" dirty="0"/>
          </a:p>
        </p:txBody>
      </p:sp>
      <p:sp>
        <p:nvSpPr>
          <p:cNvPr id="42" name="Text 40"/>
          <p:cNvSpPr txBox="1"/>
          <p:nvPr/>
        </p:nvSpPr>
        <p:spPr>
          <a:xfrm>
            <a:off x="548640" y="553212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Snapshots are captured every six hours by a scheduled workflow that commits the database back to the repository — so the commit history is a verifiable record that the series accumulated over time.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620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model proposes; the rules dispose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69264"/>
            <a:ext cx="11064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Specification extraction measured against nine hand-verified cases. The model never decides a price and never decides whether two machines are comparable.</a:t>
            </a:r>
            <a:endParaRPr lang="en-US" sz="13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554480"/>
          <a:ext cx="603504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6858000" y="1600200"/>
            <a:ext cx="4754880" cy="1417320"/>
          </a:xfrm>
          <a:prstGeom prst="roundRect">
            <a:avLst>
              <a:gd name="adj" fmla="val 3871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114032" y="178308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the gain comes from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7114032" y="2084832"/>
            <a:ext cx="4206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storage capacity the rules score 89% and the model scores 89% — reconciling them scores </a:t>
            </a:r>
            <a:pPr indent="0" marL="0">
              <a:buNone/>
            </a:pPr>
            <a:r>
              <a:rPr lang="en-US" sz="12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The two readers miss different things.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6858000" y="3218688"/>
            <a:ext cx="237744" cy="237744"/>
          </a:xfrm>
          <a:prstGeom prst="ellipse">
            <a:avLst/>
          </a:prstGeom>
          <a:solidFill>
            <a:srgbClr val="0F766E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7223760" y="3182112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Re-normalised</a:t>
            </a:r>
            <a:endParaRPr lang="en-US" sz="1250" dirty="0"/>
          </a:p>
        </p:txBody>
      </p:sp>
      <p:sp>
        <p:nvSpPr>
          <p:cNvPr id="10" name="Text 7"/>
          <p:cNvSpPr txBox="1"/>
          <p:nvPr/>
        </p:nvSpPr>
        <p:spPr>
          <a:xfrm>
            <a:off x="7223760" y="3410712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field the model returns passes through the same vocabulary the rules produce. An invented value is rejected, not repaired.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6858000" y="3931920"/>
            <a:ext cx="237744" cy="237744"/>
          </a:xfrm>
          <a:prstGeom prst="ellipse">
            <a:avLst/>
          </a:prstGeom>
          <a:solidFill>
            <a:srgbClr val="0F766E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7223760" y="3895344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overrides</a:t>
            </a:r>
            <a:endParaRPr lang="en-US" sz="1250" dirty="0"/>
          </a:p>
        </p:txBody>
      </p:sp>
      <p:sp>
        <p:nvSpPr>
          <p:cNvPr id="13" name="Text 10"/>
          <p:cNvSpPr txBox="1"/>
          <p:nvPr/>
        </p:nvSpPr>
        <p:spPr>
          <a:xfrm>
            <a:off x="7223760" y="4123944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both read a value and they differ, the rules' value is kept and a critical flag is raised. Neither wins silently.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6858000" y="4645152"/>
            <a:ext cx="237744" cy="237744"/>
          </a:xfrm>
          <a:prstGeom prst="ellipse">
            <a:avLst/>
          </a:prstGeom>
          <a:solidFill>
            <a:srgbClr val="0F766E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7223760" y="4608576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Measured, not assumed</a:t>
            </a:r>
            <a:endParaRPr lang="en-US" sz="1250" dirty="0"/>
          </a:p>
        </p:txBody>
      </p:sp>
      <p:sp>
        <p:nvSpPr>
          <p:cNvPr id="16" name="Text 13"/>
          <p:cNvSpPr txBox="1"/>
          <p:nvPr/>
        </p:nvSpPr>
        <p:spPr>
          <a:xfrm>
            <a:off x="7223760" y="4837176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of the nine cases are traps whose correct answer is "not stated". The model returned null for both.</a:t>
            </a:r>
            <a:endParaRPr lang="en-US" sz="1000" dirty="0"/>
          </a:p>
        </p:txBody>
      </p:sp>
      <p:sp>
        <p:nvSpPr>
          <p:cNvPr id="17" name="Text 14"/>
          <p:cNvSpPr txBox="1"/>
          <p:nvPr/>
        </p:nvSpPr>
        <p:spPr>
          <a:xfrm>
            <a:off x="548640" y="5138928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Failure mode, not just accuracy.  </a:t>
            </a:r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rules miss 13 fields and get 1 wrong. The hybrid misses none and gets the same 1 wrong — it recovers the omissions without introducing new errors. Hallucination rate is 0% for all three strategies.</a:t>
            </a:r>
            <a:endParaRPr lang="en-US" sz="1200" dirty="0"/>
          </a:p>
        </p:txBody>
      </p:sp>
      <p:sp>
        <p:nvSpPr>
          <p:cNvPr id="18" name="Text 15"/>
          <p:cNvSpPr txBox="1"/>
          <p:nvPr/>
        </p:nvSpPr>
        <p:spPr>
          <a:xfrm>
            <a:off x="548640" y="5779008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choice followed the evaluation: the larger model exhausted its free-tier quota mid-run and could not finish. The lite model completed all nine cases. A model that cannot finish is not more capable.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620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this does not do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42416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C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Stating the limits precisely is the part that makes the rest trustworthy.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5303520" cy="1353312"/>
          </a:xfrm>
          <a:prstGeom prst="roundRect">
            <a:avLst>
              <a:gd name="adj" fmla="val 4054"/>
            </a:avLst>
          </a:prstGeom>
          <a:solidFill>
            <a:srgbClr val="1F2C3E"/>
          </a:solidFill>
          <a:ln w="12700">
            <a:solidFill>
              <a:srgbClr val="2E3E5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96112" y="1755648"/>
            <a:ext cx="4800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 observation window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896112" y="2057400"/>
            <a:ext cx="4800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7D2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Collection began 11 September. Enough to show the tracker records change; not enough to characterise a promotional cycle. A flat line means prices did not move — nothing more.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263640" y="1600200"/>
            <a:ext cx="5303520" cy="1353312"/>
          </a:xfrm>
          <a:prstGeom prst="roundRect">
            <a:avLst>
              <a:gd name="adj" fmla="val 4054"/>
            </a:avLst>
          </a:prstGeom>
          <a:solidFill>
            <a:srgbClr val="1F2C3E"/>
          </a:solidFill>
          <a:ln w="12700">
            <a:solidFill>
              <a:srgbClr val="2E3E5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519672" y="1755648"/>
            <a:ext cx="4800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Prices are second-hand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6519672" y="2057400"/>
            <a:ext cx="4800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7D2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active source is an aggregator, not the retailer. The SKU echo check catches a response about the wrong product; it cannot catch a stale price.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" y="3172968"/>
            <a:ext cx="5303520" cy="1353312"/>
          </a:xfrm>
          <a:prstGeom prst="roundRect">
            <a:avLst>
              <a:gd name="adj" fmla="val 4054"/>
            </a:avLst>
          </a:prstGeom>
          <a:solidFill>
            <a:srgbClr val="1F2C3E"/>
          </a:solidFill>
          <a:ln w="12700">
            <a:solidFill>
              <a:srgbClr val="2E3E52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96112" y="3328416"/>
            <a:ext cx="4800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 size is not in the key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896112" y="3630168"/>
            <a:ext cx="4800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7D2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14-inch and a 16-inch machine are currently treated as comparable. Adding it is a one-line change that would leave no cross-brand group at all.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263640" y="3172968"/>
            <a:ext cx="5303520" cy="1353312"/>
          </a:xfrm>
          <a:prstGeom prst="roundRect">
            <a:avLst>
              <a:gd name="adj" fmla="val 4054"/>
            </a:avLst>
          </a:prstGeom>
          <a:solidFill>
            <a:srgbClr val="1F2C3E"/>
          </a:solidFill>
          <a:ln w="12700">
            <a:solidFill>
              <a:srgbClr val="2E3E52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519672" y="3328416"/>
            <a:ext cx="4800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Thresholds are heuristics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6519672" y="3630168"/>
            <a:ext cx="4800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7D2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±15% and ±40% bands are judgement calls, not values derived from an observed distribution. The window is too short for that.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640080" y="5074920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by tooling, not by reading.  </a:t>
            </a:r>
            <a:pPr indent="0" marL="0">
              <a:buNone/>
            </a:pPr>
            <a:r>
              <a:rPr lang="en-US" sz="1250" dirty="0">
                <a:solidFill>
                  <a:srgbClr val="9C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typing found 11 defects the 145 passing tests could not see — including a grouping key that could be built from null values. Reviewing 600 generated lines by eye would not have caught them.</a:t>
            </a:r>
            <a:endParaRPr lang="en-US" sz="1250" dirty="0"/>
          </a:p>
        </p:txBody>
      </p:sp>
      <p:sp>
        <p:nvSpPr>
          <p:cNvPr id="17" name="Text 15"/>
          <p:cNvSpPr txBox="1"/>
          <p:nvPr/>
        </p:nvSpPr>
        <p:spPr>
          <a:xfrm>
            <a:off x="640080" y="58704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145 tests · 81% coverage · ruff · mypy · CI on every push · scheduled collection every 6 hours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AI-Powered PC Pricing Tracker</dc:title>
  <dc:subject>PptxGenJS Presentation</dc:subject>
  <dc:creator>Bo-Sheng Chen</dc:creator>
  <cp:lastModifiedBy>Bo-Sheng Chen</cp:lastModifiedBy>
  <cp:revision>1</cp:revision>
  <dcterms:created xsi:type="dcterms:W3CDTF">2026-09-12T14:00:04Z</dcterms:created>
  <dcterms:modified xsi:type="dcterms:W3CDTF">2026-09-12T14:00:04Z</dcterms:modified>
</cp:coreProperties>
</file>